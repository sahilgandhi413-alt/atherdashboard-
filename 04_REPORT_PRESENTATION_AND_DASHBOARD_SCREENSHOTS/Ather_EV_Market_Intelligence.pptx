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ca582e-54bf-108f-0098-964ecc3fbeb2}">
          <p14:sldIdLst>
            <p14:sldId id="256"/>
            <p14:sldId id="257"/>
          </p14:sldIdLst>
        </p14:section>
        <p14:section name="Analysis" id="{229d36d5-f6b0-ade5-c95c-7c8eea5f2ab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Wrap-up" id="{9d7e0470-361a-c92d-709b-7b8c0dcd5c0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8FAFC"/>
                </a:solidFill>
                <a:latin typeface="+mn-lt"/>
              </a:rPr>
              <a:t>Share of units vs revenue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units (%)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Rizta S</c:v>
                  </c:pt>
                  <c:pt idx="1">
                    <c:v>450X</c:v>
                  </c:pt>
                  <c:pt idx="2">
                    <c:v>Rizta Z</c:v>
                  </c:pt>
                  <c:pt idx="3">
                    <c:v>450S</c:v>
                  </c:pt>
                  <c:pt idx="4">
                    <c:v>450 Apex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28.3</c:v>
                </c:pt>
                <c:pt idx="1">
                  <c:v>27</c:v>
                </c:pt>
                <c:pt idx="2">
                  <c:v>21</c:v>
                </c:pt>
                <c:pt idx="3">
                  <c:v>15.7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 (%)</c:v>
                </c:pt>
              </c:strCache>
            </c:strRef>
          </c:tx>
          <c:spPr>
            <a:solidFill>
              <a:srgbClr val="39FF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Rizta S</c:v>
                  </c:pt>
                  <c:pt idx="1">
                    <c:v>450X</c:v>
                  </c:pt>
                  <c:pt idx="2">
                    <c:v>Rizta Z</c:v>
                  </c:pt>
                  <c:pt idx="3">
                    <c:v>450S</c:v>
                  </c:pt>
                  <c:pt idx="4">
                    <c:v>450 Apex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24.8</c:v>
                </c:pt>
                <c:pt idx="1">
                  <c:v>29</c:v>
                </c:pt>
                <c:pt idx="2">
                  <c:v>21.1</c:v>
                </c:pt>
                <c:pt idx="3">
                  <c:v>14.4</c:v>
                </c:pt>
                <c:pt idx="4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8FAF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8FAFC"/>
                </a:solidFill>
                <a:latin typeface="+mn-lt"/>
              </a:rPr>
              <a:t>Top 10 cities by units sold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Bengaluru</c:v>
                  </c:pt>
                  <c:pt idx="1">
                    <c:v>Ahmedabad</c:v>
                  </c:pt>
                  <c:pt idx="2">
                    <c:v>Mumbai</c:v>
                  </c:pt>
                  <c:pt idx="3">
                    <c:v>Pune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Chennai</c:v>
                  </c:pt>
                  <c:pt idx="7">
                    <c:v>Surat</c:v>
                  </c:pt>
                  <c:pt idx="8">
                    <c:v>Kolkata</c:v>
                  </c:pt>
                  <c:pt idx="9">
                    <c:v>Jaipur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33559</c:v>
                </c:pt>
                <c:pt idx="1">
                  <c:v>30562</c:v>
                </c:pt>
                <c:pt idx="2">
                  <c:v>29942</c:v>
                </c:pt>
                <c:pt idx="3">
                  <c:v>23334</c:v>
                </c:pt>
                <c:pt idx="4">
                  <c:v>23253</c:v>
                </c:pt>
                <c:pt idx="5">
                  <c:v>23218</c:v>
                </c:pt>
                <c:pt idx="6">
                  <c:v>23151</c:v>
                </c:pt>
                <c:pt idx="7">
                  <c:v>15220</c:v>
                </c:pt>
                <c:pt idx="8">
                  <c:v>13101</c:v>
                </c:pt>
                <c:pt idx="9">
                  <c:v>12064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8FAFC"/>
                </a:solidFill>
                <a:latin typeface="+mn-lt"/>
              </a:rPr>
              <a:t>Units sold per quarter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per quarter</c:v>
                </c:pt>
              </c:strCache>
            </c:strRef>
          </c:tx>
          <c:spPr>
            <a:solidFill>
              <a:srgbClr val="00D9FF"/>
            </a:solidFill>
            <a:ln w="38100" cap="flat">
              <a:solidFill>
                <a:srgbClr val="00D9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D9FF"/>
              </a:solidFill>
              <a:ln w="9525" cap="flat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Q1 23</c:v>
                  </c:pt>
                  <c:pt idx="1">
                    <c:v>Q2 23</c:v>
                  </c:pt>
                  <c:pt idx="2">
                    <c:v>Q3 23</c:v>
                  </c:pt>
                  <c:pt idx="3">
                    <c:v>Q4 23</c:v>
                  </c:pt>
                  <c:pt idx="4">
                    <c:v>Q1 24</c:v>
                  </c:pt>
                  <c:pt idx="5">
                    <c:v>Q2 24</c:v>
                  </c:pt>
                  <c:pt idx="6">
                    <c:v>Q3 24</c:v>
                  </c:pt>
                  <c:pt idx="7">
                    <c:v>Q4 24</c:v>
                  </c:pt>
                  <c:pt idx="8">
                    <c:v>Q1 25</c:v>
                  </c:pt>
                  <c:pt idx="9">
                    <c:v>Q2 25</c:v>
                  </c:pt>
                  <c:pt idx="10">
                    <c:v>Q3 25</c:v>
                  </c:pt>
                  <c:pt idx="11">
                    <c:v>Q4 25</c:v>
                  </c:pt>
                  <c:pt idx="12">
                    <c:v>Q1 26</c:v>
                  </c:pt>
                  <c:pt idx="13">
                    <c:v>Q2 26</c:v>
                  </c:pt>
                  <c:pt idx="14">
                    <c:v>Q3 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20021</c:v>
                </c:pt>
                <c:pt idx="1">
                  <c:v>19954</c:v>
                </c:pt>
                <c:pt idx="2">
                  <c:v>19448</c:v>
                </c:pt>
                <c:pt idx="3">
                  <c:v>19803</c:v>
                </c:pt>
                <c:pt idx="4">
                  <c:v>20326</c:v>
                </c:pt>
                <c:pt idx="5">
                  <c:v>19712</c:v>
                </c:pt>
                <c:pt idx="6">
                  <c:v>19859</c:v>
                </c:pt>
                <c:pt idx="7">
                  <c:v>20008</c:v>
                </c:pt>
                <c:pt idx="8">
                  <c:v>20360</c:v>
                </c:pt>
                <c:pt idx="9">
                  <c:v>19900</c:v>
                </c:pt>
                <c:pt idx="10">
                  <c:v>20031</c:v>
                </c:pt>
                <c:pt idx="11">
                  <c:v>19940</c:v>
                </c:pt>
                <c:pt idx="12">
                  <c:v>19879</c:v>
                </c:pt>
                <c:pt idx="13">
                  <c:v>20271</c:v>
                </c:pt>
                <c:pt idx="14">
                  <c:v>20149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"/>
          <c:min val="18000"/>
        </c:scaling>
        <c:delete val="0"/>
        <c:axPos val="l"/>
        <c:majorGridlines>
          <c:spPr>
            <a:ln w="9525" cap="flat">
              <a:solidFill>
                <a:srgbClr val="26344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8FAFC"/>
                </a:solidFill>
                <a:latin typeface="+mn-lt"/>
              </a:rPr>
              <a:t>How buyers charge (units)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Charging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9FF88"/>
              </a:solidFill>
              <a:ln w="25400" cap="flat">
                <a:solidFill>
                  <a:srgbClr val="111C2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D9FF"/>
              </a:solidFill>
              <a:ln w="25400" cap="flat">
                <a:solidFill>
                  <a:srgbClr val="111C2E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ln w="25400" cap="flat">
                <a:solidFill>
                  <a:srgbClr val="111C2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22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Home charging</c:v>
                </c:pt>
                <c:pt idx="1">
                  <c:v>Home + public</c:v>
                </c:pt>
                <c:pt idx="2">
                  <c:v>Public charging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173785</c:v>
                </c:pt>
                <c:pt idx="1">
                  <c:v>74553</c:v>
                </c:pt>
                <c:pt idx="2">
                  <c:v>51323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8FAF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100,000-record Ather EV market dataset turned into an interactive Streamlit dashboard. Note the dataset is synthetic and for educational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ex-showroom price multiplied by units sold, about Rs 4,183 crore across 299,661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drive the dashboard. The pipeline: load the CSV, enrich it (date, revenue, CO2 estimates, price bands), aggregate, visualise, then turn insights into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Full-resolution (3840 x 2160) dashboard image. Open it zoomed to read every chart. KPI strip, model lineup, units by model, top cities, trend, range, battery, charging and price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Rizta S leads units (84,726) but the 450X earns the most revenue because of its higher price. The premium 450 Apex punches above its unit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Bengaluru leads with 33,559 units (11.2%). Smaller cities such as Nagpur, Mysuru and Lucknow each hold under 3% of units. Customer ratings are almost identical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have plateaued: Jan-Sep units were 59,423 (2023), 59,897 (2024), 60,291 (2025) and 60,299 (2026). Ratings are stable at 4.24 across years, models and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58% of units charge at home only, and 42% rely on public charging at least part of the time. Sustainability numbers are estimates using the assumptions printed on the slide, as in the dashboard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 come straight from the dashboard data. Recommendations are suggested next steps based on those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the technical work (Python, Pandas, Streamlit) to the business story and the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3" name="Logo bo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 ANALYTICS PROJECT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Ather EV Market Intelligence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80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model, regional and sustainability insights from 100,000 records</a:t>
            </a:r>
            <a:endParaRPr lang="en-US" sz="1600" dirty="0"/>
          </a:p>
        </p:txBody>
      </p:sp>
      <p:sp>
        <p:nvSpPr>
          <p:cNvPr id="8" name="Chip"/>
          <p:cNvSpPr/>
          <p:nvPr/>
        </p:nvSpPr>
        <p:spPr>
          <a:xfrm>
            <a:off x="457200" y="3840480"/>
            <a:ext cx="1188720" cy="731520"/>
          </a:xfrm>
          <a:prstGeom prst="roundRect">
            <a:avLst>
              <a:gd name="adj" fmla="val 15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records</a:t>
            </a:r>
            <a:endParaRPr lang="en-US" sz="2000" dirty="0"/>
          </a:p>
        </p:txBody>
      </p:sp>
      <p:sp>
        <p:nvSpPr>
          <p:cNvPr id="10" name="Chip"/>
          <p:cNvSpPr/>
          <p:nvPr/>
        </p:nvSpPr>
        <p:spPr>
          <a:xfrm>
            <a:off x="1783080" y="3840480"/>
            <a:ext cx="1188720" cy="731520"/>
          </a:xfrm>
          <a:prstGeom prst="roundRect">
            <a:avLst>
              <a:gd name="adj" fmla="val 15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8308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models</a:t>
            </a:r>
            <a:endParaRPr lang="en-US" sz="2000" dirty="0"/>
          </a:p>
        </p:txBody>
      </p:sp>
      <p:sp>
        <p:nvSpPr>
          <p:cNvPr id="12" name="Chip"/>
          <p:cNvSpPr/>
          <p:nvPr/>
        </p:nvSpPr>
        <p:spPr>
          <a:xfrm>
            <a:off x="3108960" y="3840480"/>
            <a:ext cx="1188720" cy="731520"/>
          </a:xfrm>
          <a:prstGeom prst="roundRect">
            <a:avLst>
              <a:gd name="adj" fmla="val 15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08960" y="3840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cities</a:t>
            </a:r>
            <a:endParaRPr lang="en-US" sz="2000" dirty="0"/>
          </a:p>
        </p:txBody>
      </p:sp>
      <p:pic>
        <p:nvPicPr>
          <p:cNvPr id="14" name="Dashboard screenshot" descr="Ather EV dashboard overview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88720"/>
            <a:ext cx="4114800" cy="23134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Streamlit dashboard (full 4K image on slide 4)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 Energy builds electric scooters for Indian cities. This project turns a 100,000-record market dataset into one dashboard for sales, pricing, range, charging and ratings.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holds 15 fields: model, year, battery, range, price, city, state, charging type, month, units, rating and warranty.</a:t>
            </a:r>
            <a:endParaRPr lang="en-US" sz="1500" dirty="0"/>
          </a:p>
        </p:txBody>
      </p:sp>
      <p:sp>
        <p:nvSpPr>
          <p:cNvPr id="4" name="Note card"/>
          <p:cNvSpPr/>
          <p:nvPr/>
        </p:nvSpPr>
        <p:spPr>
          <a:xfrm>
            <a:off x="457200" y="384048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5" name="Databa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995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dataset, built for learning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484632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1170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299,661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6824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scooters sold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685800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1170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₹4,183 Cr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6824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ex-showroom value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4846320" y="2377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24505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cities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9626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states</a:t>
            </a:r>
            <a:endParaRPr lang="en-US" sz="1400" dirty="0"/>
          </a:p>
        </p:txBody>
      </p:sp>
      <p:sp>
        <p:nvSpPr>
          <p:cNvPr id="16" name="Stat card"/>
          <p:cNvSpPr/>
          <p:nvPr/>
        </p:nvSpPr>
        <p:spPr>
          <a:xfrm>
            <a:off x="6858000" y="2377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24505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months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9626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Sep 2026</a:t>
            </a:r>
            <a:endParaRPr lang="en-US" sz="1400" dirty="0"/>
          </a:p>
        </p:txBody>
      </p:sp>
      <p:sp>
        <p:nvSpPr>
          <p:cNvPr id="19" name="Models card"/>
          <p:cNvSpPr/>
          <p:nvPr/>
        </p:nvSpPr>
        <p:spPr>
          <a:xfrm>
            <a:off x="4846320" y="3657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0" y="3657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Rizta S, Rizta Z, 450S, 450X and 450 Apex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Approach</a:t>
            </a:r>
            <a:endParaRPr lang="en-US" sz="2800" dirty="0"/>
          </a:p>
        </p:txBody>
      </p:sp>
      <p:sp>
        <p:nvSpPr>
          <p:cNvPr id="3" name="Objective card"/>
          <p:cNvSpPr/>
          <p:nvPr/>
        </p:nvSpPr>
        <p:spPr>
          <a:xfrm>
            <a:off x="457200" y="100584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4" name="Objective icon circle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5" name="Objectiv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2966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insights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214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units, revenue and range by model</a:t>
            </a:r>
            <a:endParaRPr lang="en-US" sz="1400" dirty="0"/>
          </a:p>
        </p:txBody>
      </p:sp>
      <p:sp>
        <p:nvSpPr>
          <p:cNvPr id="8" name="Objective card"/>
          <p:cNvSpPr/>
          <p:nvPr/>
        </p:nvSpPr>
        <p:spPr>
          <a:xfrm>
            <a:off x="2569464" y="100584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9" name="Objective icon circle"/>
          <p:cNvSpPr/>
          <p:nvPr/>
        </p:nvSpPr>
        <p:spPr>
          <a:xfrm>
            <a:off x="2752344" y="1143000"/>
            <a:ext cx="548640" cy="548640"/>
          </a:xfrm>
          <a:prstGeom prst="ellipse">
            <a:avLst/>
          </a:prstGeom>
          <a:solidFill>
            <a:srgbClr val="39FF88">
              <a:alpha val="1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0" name="Objectiv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63" y="12966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52344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insights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52344" y="21214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cities and states that lead sales</a:t>
            </a:r>
            <a:endParaRPr lang="en-US" sz="1400" dirty="0"/>
          </a:p>
        </p:txBody>
      </p:sp>
      <p:sp>
        <p:nvSpPr>
          <p:cNvPr id="13" name="Objective card"/>
          <p:cNvSpPr/>
          <p:nvPr/>
        </p:nvSpPr>
        <p:spPr>
          <a:xfrm>
            <a:off x="4681728" y="100584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4" name="Objective icon circle"/>
          <p:cNvSpPr/>
          <p:nvPr/>
        </p:nvSpPr>
        <p:spPr>
          <a:xfrm>
            <a:off x="4864608" y="1143000"/>
            <a:ext cx="548640" cy="548640"/>
          </a:xfrm>
          <a:prstGeom prst="ellipse">
            <a:avLst/>
          </a:prstGeom>
          <a:solidFill>
            <a:srgbClr val="B7FF00">
              <a:alpha val="18000"/>
            </a:srgbClr>
          </a:solidFill>
          <a:ln w="12700">
            <a:solidFill>
              <a:srgbClr val="B7FF00"/>
            </a:solidFill>
            <a:prstDash val="solid"/>
          </a:ln>
        </p:spPr>
      </p:sp>
      <p:pic>
        <p:nvPicPr>
          <p:cNvPr id="15" name="Objectiv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27" y="12966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64608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view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64608" y="21214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ratings, price bands and charging habits</a:t>
            </a:r>
            <a:endParaRPr lang="en-US" sz="1400" dirty="0"/>
          </a:p>
        </p:txBody>
      </p:sp>
      <p:sp>
        <p:nvSpPr>
          <p:cNvPr id="18" name="Objective card"/>
          <p:cNvSpPr/>
          <p:nvPr/>
        </p:nvSpPr>
        <p:spPr>
          <a:xfrm>
            <a:off x="6793992" y="100584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9" name="Objective icon circle"/>
          <p:cNvSpPr/>
          <p:nvPr/>
        </p:nvSpPr>
        <p:spPr>
          <a:xfrm>
            <a:off x="6976872" y="1143000"/>
            <a:ext cx="548640" cy="54864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Objectiv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491" y="129661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76872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76872" y="212140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CO2 and petrol savings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24" name="Step pill"/>
          <p:cNvSpPr/>
          <p:nvPr/>
        </p:nvSpPr>
        <p:spPr>
          <a:xfrm>
            <a:off x="457200" y="3749040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5720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400" dirty="0"/>
          </a:p>
        </p:txBody>
      </p:sp>
      <p:pic>
        <p:nvPicPr>
          <p:cNvPr id="26" name="Step arr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3977640"/>
            <a:ext cx="182880" cy="182880"/>
          </a:xfrm>
          <a:prstGeom prst="rect">
            <a:avLst/>
          </a:prstGeom>
        </p:spPr>
      </p:pic>
      <p:sp>
        <p:nvSpPr>
          <p:cNvPr id="27" name="Step pill"/>
          <p:cNvSpPr/>
          <p:nvPr/>
        </p:nvSpPr>
        <p:spPr>
          <a:xfrm>
            <a:off x="2139696" y="3749040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2139696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enrich</a:t>
            </a:r>
            <a:endParaRPr lang="en-US" sz="1400" dirty="0"/>
          </a:p>
        </p:txBody>
      </p:sp>
      <p:pic>
        <p:nvPicPr>
          <p:cNvPr id="29" name="Step 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3977640"/>
            <a:ext cx="182880" cy="182880"/>
          </a:xfrm>
          <a:prstGeom prst="rect">
            <a:avLst/>
          </a:prstGeom>
        </p:spPr>
      </p:pic>
      <p:sp>
        <p:nvSpPr>
          <p:cNvPr id="30" name="Step pill"/>
          <p:cNvSpPr/>
          <p:nvPr/>
        </p:nvSpPr>
        <p:spPr>
          <a:xfrm>
            <a:off x="3822192" y="3749040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3822192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pic>
        <p:nvPicPr>
          <p:cNvPr id="32" name="Step arrow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977640"/>
            <a:ext cx="182880" cy="182880"/>
          </a:xfrm>
          <a:prstGeom prst="rect">
            <a:avLst/>
          </a:prstGeom>
        </p:spPr>
      </p:pic>
      <p:sp>
        <p:nvSpPr>
          <p:cNvPr id="33" name="Step pill"/>
          <p:cNvSpPr/>
          <p:nvPr/>
        </p:nvSpPr>
        <p:spPr>
          <a:xfrm>
            <a:off x="5504688" y="3749040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5875">
            <a:solidFill>
              <a:srgbClr val="00D9FF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5504688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400" dirty="0"/>
          </a:p>
        </p:txBody>
      </p:sp>
      <p:pic>
        <p:nvPicPr>
          <p:cNvPr id="35" name="Step 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3977640"/>
            <a:ext cx="182880" cy="182880"/>
          </a:xfrm>
          <a:prstGeom prst="rect">
            <a:avLst/>
          </a:prstGeom>
        </p:spPr>
      </p:pic>
      <p:sp>
        <p:nvSpPr>
          <p:cNvPr id="36" name="Step pill"/>
          <p:cNvSpPr/>
          <p:nvPr/>
        </p:nvSpPr>
        <p:spPr>
          <a:xfrm>
            <a:off x="7187184" y="3749040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5875">
            <a:solidFill>
              <a:srgbClr val="39FF88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7187184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Interactive Dashboard</a:t>
            </a:r>
            <a:endParaRPr lang="en-US" sz="2800" dirty="0"/>
          </a:p>
        </p:txBody>
      </p:sp>
      <p:pic>
        <p:nvPicPr>
          <p:cNvPr id="3" name="Dashboard screenshot" descr="Full Ather EV market intelligence dashboard in 4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6583680" cy="3703320"/>
          </a:xfrm>
          <a:prstGeom prst="rect">
            <a:avLst/>
          </a:prstGeom>
        </p:spPr>
      </p:pic>
      <p:sp>
        <p:nvSpPr>
          <p:cNvPr id="4" name="Feature card"/>
          <p:cNvSpPr/>
          <p:nvPr/>
        </p:nvSpPr>
        <p:spPr>
          <a:xfrm>
            <a:off x="7223760" y="960120"/>
            <a:ext cx="1554480" cy="1170432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5" name="Featu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1088136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51776" y="1417320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to Sustainability</a:t>
            </a:r>
            <a:endParaRPr lang="en-US" sz="1400" dirty="0"/>
          </a:p>
        </p:txBody>
      </p:sp>
      <p:sp>
        <p:nvSpPr>
          <p:cNvPr id="7" name="Feature card"/>
          <p:cNvSpPr/>
          <p:nvPr/>
        </p:nvSpPr>
        <p:spPr>
          <a:xfrm>
            <a:off x="7223760" y="2221992"/>
            <a:ext cx="1554480" cy="1170432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8" name="Featur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3500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51776" y="2679192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auto-sync, simulator or API</a:t>
            </a:r>
            <a:endParaRPr lang="en-US" sz="1400" dirty="0"/>
          </a:p>
        </p:txBody>
      </p:sp>
      <p:sp>
        <p:nvSpPr>
          <p:cNvPr id="10" name="Feature card"/>
          <p:cNvSpPr/>
          <p:nvPr/>
        </p:nvSpPr>
        <p:spPr>
          <a:xfrm>
            <a:off x="7223760" y="3483864"/>
            <a:ext cx="1554480" cy="1170432"/>
          </a:xfrm>
          <a:prstGeom prst="roundRect">
            <a:avLst>
              <a:gd name="adj" fmla="val 9375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11" name="Featur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36118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51776" y="3941064"/>
            <a:ext cx="1353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year, state and charging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11480" y="96012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051560"/>
          <a:ext cx="50749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897880" y="96012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033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5453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units come from the Rizta family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5897880" y="219456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2677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₹1,212 Cr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7797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450X earns the most revenue (29.0%)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5897880" y="342900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5021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 → 10.8%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01421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Apex: share of units vs revenue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11480" y="96012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051560"/>
          <a:ext cx="50749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897880" y="96012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033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5453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units from Bengaluru, Ahmedabad and Mumbai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5897880" y="219456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2677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53.9%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7797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Maharashtra, Gujarat and Karnataka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5897880" y="342900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5021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 – 4.25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01421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in all 18 cities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 &amp; Customer Satisfaction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11480" y="96012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051560"/>
          <a:ext cx="50749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251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starts at 18,000 to show small movements</a:t>
            </a:r>
            <a:endParaRPr lang="en-US" sz="1000" dirty="0"/>
          </a:p>
        </p:txBody>
      </p:sp>
      <p:sp>
        <p:nvSpPr>
          <p:cNvPr id="6" name="Stat card"/>
          <p:cNvSpPr/>
          <p:nvPr/>
        </p:nvSpPr>
        <p:spPr>
          <a:xfrm>
            <a:off x="5897880" y="96012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80760" y="1033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~20K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5453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every quarter (19.4K – 20.4K)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5897880" y="219456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22677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27797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Sep 2026 units vs 2025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5897880" y="3429000"/>
            <a:ext cx="288036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80760" y="35021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 / 5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080760" y="401421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rating; 31.7% of records score 4.5+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&amp; Sustainability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11480" y="960120"/>
            <a:ext cx="420624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051560"/>
          <a:ext cx="40233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4846320" y="96012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0" y="10332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72,203 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54533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avoided per year (estimate)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4846320" y="21945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226771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 M litres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7797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saved per year (estimate)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4846320" y="342900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35021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M trees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40142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yearly CO2 absorption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6451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8,000 km/year per scooter, petrol scooter 0.051 kg CO2/km, grid 0.71 kg CO2/kWh.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3" name="Column card"/>
          <p:cNvSpPr/>
          <p:nvPr/>
        </p:nvSpPr>
        <p:spPr>
          <a:xfrm>
            <a:off x="457200" y="96012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4" name="Column icon circle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5" name="Colum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2529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flat at about 20K units a quarter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414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Rizta S and 450X make 55% of units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1455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145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give 54% of all units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8496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849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buyers use public charging</a:t>
            </a:r>
            <a:endParaRPr lang="en-US" sz="1400" dirty="0"/>
          </a:p>
        </p:txBody>
      </p:sp>
      <p:sp>
        <p:nvSpPr>
          <p:cNvPr id="15" name="Column card"/>
          <p:cNvSpPr/>
          <p:nvPr/>
        </p:nvSpPr>
        <p:spPr>
          <a:xfrm>
            <a:off x="4709160" y="96012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16" name="Column icon circle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39FF88">
              <a:alpha val="18000"/>
            </a:srgbClr>
          </a:solidFill>
          <a:ln w="12700">
            <a:solidFill>
              <a:srgbClr val="39FF88"/>
            </a:solidFill>
            <a:prstDash val="solid"/>
          </a:ln>
        </p:spPr>
      </p:sp>
      <p:pic>
        <p:nvPicPr>
          <p:cNvPr id="17" name="Colum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22529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93776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39496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tier-2 cities like Nagpur and Lucknow (under 3% each)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937760" y="24414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39496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450 Apex: highest price, ₹1.87L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31455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5394960" y="3145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fast-charging partners in the top 3 states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4937760" y="38496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394960" y="3849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5-year warranty (49% of units today)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 &amp; Conclusion</a:t>
            </a:r>
            <a:endParaRPr lang="en-US" sz="2800" dirty="0"/>
          </a:p>
        </p:txBody>
      </p:sp>
      <p:sp>
        <p:nvSpPr>
          <p:cNvPr id="3" name="Skill card"/>
          <p:cNvSpPr/>
          <p:nvPr/>
        </p:nvSpPr>
        <p:spPr>
          <a:xfrm>
            <a:off x="457200" y="96012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4" name="Skil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247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08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&amp; Pandas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enrich and aggregate 100K rows</a:t>
            </a:r>
            <a:endParaRPr lang="en-US" sz="1300" dirty="0"/>
          </a:p>
        </p:txBody>
      </p:sp>
      <p:sp>
        <p:nvSpPr>
          <p:cNvPr id="7" name="Skill card"/>
          <p:cNvSpPr/>
          <p:nvPr/>
        </p:nvSpPr>
        <p:spPr>
          <a:xfrm>
            <a:off x="2697480" y="96012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8" name="Skil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247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80360" y="1508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&amp; Streamlit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880360" y="18288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interactive, filterable dashboard</a:t>
            </a:r>
            <a:endParaRPr lang="en-US" sz="1300" dirty="0"/>
          </a:p>
        </p:txBody>
      </p:sp>
      <p:sp>
        <p:nvSpPr>
          <p:cNvPr id="11" name="Skill card"/>
          <p:cNvSpPr/>
          <p:nvPr/>
        </p:nvSpPr>
        <p:spPr>
          <a:xfrm>
            <a:off x="457200" y="2770632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12" name="Skil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522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0080" y="33192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6393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same-period growth and price bands</a:t>
            </a:r>
            <a:endParaRPr lang="en-US" sz="1300" dirty="0"/>
          </a:p>
        </p:txBody>
      </p:sp>
      <p:sp>
        <p:nvSpPr>
          <p:cNvPr id="15" name="Skill card"/>
          <p:cNvSpPr/>
          <p:nvPr/>
        </p:nvSpPr>
        <p:spPr>
          <a:xfrm>
            <a:off x="2697480" y="2770632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pic>
        <p:nvPicPr>
          <p:cNvPr id="16" name="Skil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93522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880360" y="33192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880360" y="36393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numbers into clear recommendations</a:t>
            </a:r>
            <a:endParaRPr lang="en-US" sz="1300" dirty="0"/>
          </a:p>
        </p:txBody>
      </p:sp>
      <p:sp>
        <p:nvSpPr>
          <p:cNvPr id="19" name="Conclusion card"/>
          <p:cNvSpPr/>
          <p:nvPr/>
        </p:nvSpPr>
        <p:spPr>
          <a:xfrm>
            <a:off x="5029200" y="960120"/>
            <a:ext cx="3749040" cy="3593592"/>
          </a:xfrm>
          <a:prstGeom prst="roundRect">
            <a:avLst>
              <a:gd name="adj" fmla="val 3053"/>
            </a:avLst>
          </a:prstGeom>
          <a:solidFill>
            <a:srgbClr val="111C2E"/>
          </a:solidFill>
          <a:ln w="9525">
            <a:solidFill>
              <a:srgbClr val="263449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5780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5257800" y="16002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100,000 raw sales records into a live dashboard that shows where Ather sells, which models earn the most and how customers charge. With sales flat at about 20K units a quarter, the next gains lie in tier-2 cities, premium models and charging access.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her EV Dark">
  <a:themeElements>
    <a:clrScheme name="Ather EV Dark">
      <a:dk1>
        <a:srgbClr val="0B1220"/>
      </a:dk1>
      <a:lt1>
        <a:srgbClr val="F8FAFC"/>
      </a:lt1>
      <a:dk2>
        <a:srgbClr val="111C2E"/>
      </a:dk2>
      <a:lt2>
        <a:srgbClr val="94A3B8"/>
      </a:lt2>
      <a:accent1>
        <a:srgbClr val="00D9FF"/>
      </a:accent1>
      <a:accent2>
        <a:srgbClr val="39FF88"/>
      </a:accent2>
      <a:accent3>
        <a:srgbClr val="B7FF00"/>
      </a:accent3>
      <a:accent4>
        <a:srgbClr val="6366F1"/>
      </a:accent4>
      <a:accent5>
        <a:srgbClr val="F59E0B"/>
      </a:accent5>
      <a:accent6>
        <a:srgbClr val="EF4444"/>
      </a:accent6>
      <a:hlink>
        <a:srgbClr val="00D9FF"/>
      </a:hlink>
      <a:folHlink>
        <a:srgbClr val="94A3B8"/>
      </a:folHlink>
    </a:clrScheme>
    <a:fontScheme name="Ather EV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Ather EV Market Intelligence</dc:title>
  <dc:subject>PptxGenJS Presentation</dc:subject>
  <dc:creator>PptxGenJS</dc:creator>
  <cp:lastModifiedBy>PptxGenJS</cp:lastModifiedBy>
  <cp:revision>1</cp:revision>
  <dcterms:created xsi:type="dcterms:W3CDTF">2026-10-16T10:47:03Z</dcterms:created>
  <dcterms:modified xsi:type="dcterms:W3CDTF">2026-10-16T10:47:03Z</dcterms:modified>
</cp:coreProperties>
</file>